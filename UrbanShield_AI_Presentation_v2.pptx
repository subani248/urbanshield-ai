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37160" cy="22860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70080" y="2286000"/>
            <a:ext cx="137160" cy="2286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0972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F5D4"/>
                </a:solidFill>
                <a:latin typeface="Segoe UI"/>
              </a:defRPr>
            </a:pPr>
            <a:r>
              <a:t>URBANSHIELD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Smart City Emergency Response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Segoe UI"/>
              </a:defRPr>
            </a:pPr>
            <a:r>
              <a:t>AI-Powered  •  Real-Time  •  Community-Driven  •  MERN Stack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3017520"/>
            <a:ext cx="301752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3832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  <a:latin typeface="Segoe UI"/>
              </a:defRPr>
            </a:pPr>
            <a:r>
              <a:t>A comprehensive platform leveraging AI and real-time data to transform urban emergency management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4206240"/>
            <a:ext cx="2194560" cy="41148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2062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A1A"/>
                </a:solidFill>
                <a:latin typeface="Segoe UI"/>
              </a:defRPr>
            </a:pPr>
            <a:r>
              <a:t>Incident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4206240"/>
            <a:ext cx="2194560" cy="4114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42062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A1A"/>
                </a:solidFill>
                <a:latin typeface="Segoe UI"/>
              </a:defRPr>
            </a:pPr>
            <a:r>
              <a:t>AI Analytics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59" y="4206240"/>
            <a:ext cx="219456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59" y="42062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A1A"/>
                </a:solidFill>
                <a:latin typeface="Segoe UI"/>
              </a:defRPr>
            </a:pPr>
            <a:r>
              <a:t>Real-Time Maps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0" y="4206240"/>
            <a:ext cx="2194560" cy="411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42062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A1A"/>
                </a:solidFill>
                <a:latin typeface="Segoe UI"/>
              </a:defRPr>
            </a:pPr>
            <a:r>
              <a:t>Community 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12064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B5563"/>
                </a:solidFill>
                <a:latin typeface="Segoe UI"/>
              </a:defRPr>
            </a:pPr>
            <a:r>
              <a:t>Presented by Team UrbanShield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5D4"/>
                </a:solidFill>
                <a:latin typeface="Segoe UI"/>
              </a:defRPr>
            </a:pPr>
            <a:r>
              <a:t>Problem Statement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74320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Segoe UI"/>
              </a:defRPr>
            </a:pPr>
            <a:r>
              <a:t>Urban emergencies demand immediate, coordinated response. Current systems are fragmented, lack real-time data, and fail to leverage AI for predictive analytics. Emergency responders waste precious minutes gathering information that could be instantly available through a unified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855F7"/>
                </a:solidFill>
                <a:latin typeface="Segoe UI"/>
              </a:defRPr>
            </a:pPr>
            <a: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Segoe UI"/>
              </a:defRPr>
            </a:pPr>
            <a:r>
              <a:t>Every second counts in an emergency. Cities generate vast amounts of incident data daily that goes underutilized. By unifying incident reporting, AI-driven analysis, real-time mapping, and community alerts into a single platform, we can reduce response times, improve resource allocation, and ultimately save lives.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097280"/>
            <a:ext cx="2468880" cy="11887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0" y="1097280"/>
            <a:ext cx="2468880" cy="36576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234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Role Model</a:t>
            </a:r>
            <a:br/>
            <a:r>
              <a:t>Simplified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691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Admin / Citizen</a:t>
            </a:r>
            <a:br/>
            <a:r>
              <a:t>(Removed Officer)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1097280"/>
            <a:ext cx="2468880" cy="11887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09760" y="1097280"/>
            <a:ext cx="246888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1234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691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MERN + Gemini AI</a:t>
            </a:r>
            <a:br/>
            <a:r>
              <a:t>+ Socket.IO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2468880"/>
            <a:ext cx="2468880" cy="11887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2468880"/>
            <a:ext cx="246888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2606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Authentication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063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JWT + Google</a:t>
            </a:r>
            <a:br/>
            <a:r>
              <a:t>OAuth 2.0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2468880"/>
            <a:ext cx="2468880" cy="11887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09760" y="2468880"/>
            <a:ext cx="246888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2606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Real-Time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63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Socket.IO</a:t>
            </a:r>
            <a:br/>
            <a:r>
              <a:t>Live Updates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120640"/>
            <a:ext cx="11247120" cy="146304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120640"/>
            <a:ext cx="36576" cy="146304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212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Our Development Journey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5321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9CA3AF"/>
                </a:solidFill>
                <a:latin typeface="Segoe UI"/>
              </a:defRPr>
            </a:pPr>
            <a:r>
              <a:t>1. Started with full MERN stack with Gemini AI, 3 roles (Admin/Officer/Citizen), and standard JWT auth</a:t>
            </a:r>
          </a:p>
          <a:p>
            <a:pPr>
              <a:spcAft>
                <a:spcPts val="300"/>
              </a:spcAft>
              <a:defRPr sz="1200">
                <a:solidFill>
                  <a:srgbClr val="9CA3AF"/>
                </a:solidFill>
                <a:latin typeface="Segoe UI"/>
              </a:defRPr>
            </a:pPr>
            <a:r>
              <a:t>2. Officer role removed mid-project due to complexity - simplified to Admin &amp; Citizen only</a:t>
            </a:r>
          </a:p>
          <a:p>
            <a:pPr>
              <a:spcAft>
                <a:spcPts val="300"/>
              </a:spcAft>
              <a:defRPr sz="1200">
                <a:solidFill>
                  <a:srgbClr val="9CA3AF"/>
                </a:solidFill>
                <a:latin typeface="Segoe UI"/>
              </a:defRPr>
            </a:pPr>
            <a:r>
              <a:t>3. Switched Gemini models twice (2.0-flash → 2.5-flash → 2.5-flash-lite) due to API quota limits</a:t>
            </a:r>
          </a:p>
          <a:p>
            <a:pPr>
              <a:spcAft>
                <a:spcPts val="300"/>
              </a:spcAft>
              <a:defRPr sz="1200">
                <a:solidFill>
                  <a:srgbClr val="9CA3AF"/>
                </a:solidFill>
                <a:latin typeface="Segoe UI"/>
              </a:defRPr>
            </a:pPr>
            <a:r>
              <a:t>4. Optimized dashboard from 10+ queries to single $facet aggregation for performance</a:t>
            </a:r>
          </a:p>
          <a:p>
            <a:pPr>
              <a:spcAft>
                <a:spcPts val="300"/>
              </a:spcAft>
              <a:defRPr sz="1200">
                <a:solidFill>
                  <a:srgbClr val="9CA3AF"/>
                </a:solidFill>
                <a:latin typeface="Segoe UI"/>
              </a:defRPr>
            </a:pPr>
            <a:r>
              <a:t>5. Added interactive maps, mini map search, click-to-report, and skeleton loading screens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5D4"/>
                </a:solidFill>
                <a:latin typeface="Segoe UI"/>
              </a:defRPr>
            </a:pPr>
            <a:r>
              <a:t>Proposed Solution &amp; Key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74320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760720" cy="274320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6576" cy="27432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Solution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Unified web platform for citizens &amp; admins (Officer role removed)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Real-time incident reporting and tracking via interactive maps (Leaflet + OSM)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AI-powered predictions and incident analysis using Google Gemini 2.5 Flash Lite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Live weather monitoring (OpenWeather) and air quality data integration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Instant emergency alerts with severity-based styling and Socket.IO push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Role-based access control (Admin / Citizen) with JWT + Google OAuth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Real-time dashboard with Recharts analytics and live Socket.IO updates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Interactive map with user location auto-detection and click-to-report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855F7"/>
                </a:solidFill>
                <a:latin typeface="Segoe UI"/>
              </a:defRPr>
            </a:pPr>
            <a:r>
              <a:t>Key Architectural Decisions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554480"/>
            <a:ext cx="54864" cy="6400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20840" y="1554480"/>
            <a:ext cx="5029200" cy="64008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1627632"/>
            <a:ext cx="4617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Decision: Removed Officer role entirely (simplified to Admin/Citizen)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2286000"/>
            <a:ext cx="54864" cy="6400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20840" y="2286000"/>
            <a:ext cx="5029200" cy="64008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2359152"/>
            <a:ext cx="4617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Decision: Citizens create incidents; only Admin creates alerts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017520"/>
            <a:ext cx="54864" cy="6400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20840" y="3017520"/>
            <a:ext cx="5029200" cy="64008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3090672"/>
            <a:ext cx="4617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Decision: Gemini 2.5 Flash Lite for AI (higher free tier quota)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3749040"/>
            <a:ext cx="54864" cy="6400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20840" y="3749040"/>
            <a:ext cx="5029200" cy="64008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3822192"/>
            <a:ext cx="4617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Decision: OpenStreetMap (free, no API key needed for basic usage)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4480560"/>
            <a:ext cx="54864" cy="6400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20840" y="4480560"/>
            <a:ext cx="5029200" cy="64008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4553712"/>
            <a:ext cx="4617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Decision: Dark glassmorphism UI with Framer Motion animations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5212080"/>
            <a:ext cx="54864" cy="6400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20840" y="5212080"/>
            <a:ext cx="5029200" cy="64008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5285232"/>
            <a:ext cx="4617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Decision: Lazy-loaded pages for optimal initial load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Objectives Achieved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572000"/>
            <a:ext cx="2103120" cy="5486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645152"/>
            <a:ext cx="2103120" cy="100584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7091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Real-time incident tracking across the city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4572000"/>
            <a:ext cx="2103120" cy="5486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0" y="4645152"/>
            <a:ext cx="2103120" cy="100584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4640" y="47091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AI-driven insights for proactive decision making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0" y="4572000"/>
            <a:ext cx="2103120" cy="5486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0" y="4645152"/>
            <a:ext cx="2103120" cy="100584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0" y="47091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Seamless citizen incident reporting via map &amp; form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4572000"/>
            <a:ext cx="2103120" cy="5486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0" y="4645152"/>
            <a:ext cx="2103120" cy="100584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06640" y="47091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Centralized dashboard for city-wide emergency overview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01200" y="4572000"/>
            <a:ext cx="2103120" cy="5486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601200" y="4645152"/>
            <a:ext cx="2103120" cy="100584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47091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Instant community alerts with severity-based notifications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5D4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74320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394960" cy="246888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6576" cy="246888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Real-Time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Live incident statistics &amp; analytics (Recharts)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Weather &amp; air quality monitoring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AI emergency predictions via Gemini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Role-based views (Admin overview / Citizen summary)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Responsive stat cards with glassmorphism styling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5394960" cy="246888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36576" cy="2468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Incident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Create, track, and resolve incidents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Filter by status, severity, category, date range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Pagination and text search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Interactive map in create modal with address search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Citizen-only creation; Admin-only resolution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5394960" cy="246888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36576" cy="2468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AI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805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Google Gemini 2.5 Flash Lite for predictions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AI-powered incident summarization &amp; analysis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Risk level assessment (low/medium/high/critical)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Keyword extraction &amp; category suggestion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Recommended response actions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840480"/>
            <a:ext cx="5394960" cy="246888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840480"/>
            <a:ext cx="36576" cy="2468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023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Interactive Maps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805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React Leaflet with OpenStreetMap tiles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Click-to-report incident directly on map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Auto-detect user location on page load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Geocoding &amp; reverse geocoding (Nominatim)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Mini map with address search in create modal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5D4"/>
                </a:solidFill>
                <a:latin typeface="Segoe UI"/>
              </a:defRPr>
            </a:pPr>
            <a:r>
              <a:t>Key Features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74320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394960" cy="246888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6576" cy="246888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Alert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Create severity-based emergency alerts (Admin only)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Active/inactive alert status management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Real-time push via Socket.IO connections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Severity-based color coding (critical/medium/low)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Citizen notification on dashboard sidebar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5394960" cy="246888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36576" cy="2468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Authentication &amp;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JWT-based authentication with 7-day expiry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Google OAuth 2.0 (Google Identity Services)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Role-based access (Admin / Citizen)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Profile management with avatar support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Admin panel for user management &amp; deletion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5394960" cy="246888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36576" cy="2468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Real-Time 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805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Socket.IO for live bidirectional events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Instant incident created/updated/resolved notifications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Real-time alert creation notifications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Auto-refresh dashboard on data changes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Event-driven architecture with proper cleanup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840480"/>
            <a:ext cx="5394960" cy="246888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840480"/>
            <a:ext cx="36576" cy="2468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023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Analytics &amp; UI/UX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805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Recharts: trend charts, category/severity distribution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Monthly incident reports with status breakdown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Dark glassmorphism theme with gradient accents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Framer Motion animations &amp; transitions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Skeleton loading screens instead of spinners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5D4"/>
                </a:solidFill>
                <a:latin typeface="Segoe UI"/>
              </a:defRPr>
            </a:pPr>
            <a:r>
              <a:t>Technologies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74320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394960" cy="25603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36576" cy="256032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React 18 + Vite - Component-based UI &amp; fast builds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Tailwind CSS - Utility-first styling, glassmorphism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Framer Motion - Smooth page transitions &amp; animations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React Leaflet - OpenStreetMap interactive maps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Recharts - Data visualization &amp; analytics charts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React Router DOM v6 - Lazy-loaded routing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Axios - HTTP client with interceptor for JWT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Socket.IO Client - Real-time bidirectional events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Lucide React - Consistent icon library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394960" cy="25603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36576" cy="25603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Node.js + Express.js - Server &amp; RESTful API framework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MongoDB + Mongoose - NoSQL database with ODM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JWT (jsonwebtoken) - Token-based authentication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Google Generative AI SDK v0.21 - Gemini 2.5 Flash Lite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Socket.IO v4 - WebSocket real-time communication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OpenWeather API - Weather &amp; air quality data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bcryptjs - Password hashing &amp; security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Helmet - HTTP security headers &amp; protection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express-rate-limit - API rate limiting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5394960" cy="25603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36576" cy="2560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DevOps &amp;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Vite - Fast dev server &amp; optimized production builds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Nodemon - Auto-restart on backend changes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Agentation - Dev-time code annotation tool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Git - Version control throughout development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Postman - API endpoint testing &amp; debugging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MongoDB Atlas - Cloud-hosted database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Google AI Studio - Gemini API key management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023360"/>
            <a:ext cx="5394960" cy="25603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4023360"/>
            <a:ext cx="36576" cy="2560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2062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APIs &amp;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6634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Google Gemini 2.5 Flash Lite - AI predictions &amp; summaries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OpenWeather API - Real-time temperature, humidity, wind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Air Quality Index (AQI) - Environmental monitoring data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OpenStreetMap + Nominatim - Map tiles &amp; geocoding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Google OAuth 2.0 - Social sign-in via Identity Services</a:t>
            </a:r>
          </a:p>
          <a:p>
            <a:pPr>
              <a:spcAft>
                <a:spcPts val="600"/>
              </a:spcAft>
              <a:defRPr sz="1400">
                <a:solidFill>
                  <a:srgbClr val="9CA3AF"/>
                </a:solidFill>
                <a:latin typeface="Segoe UI"/>
              </a:defRPr>
            </a:pPr>
            <a:r>
              <a:t>  •  MongoDB Atlas - Managed NoSQL database cluster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5D4"/>
                </a:solidFill>
                <a:latin typeface="Segoe UI"/>
              </a:defRPr>
            </a:pPr>
            <a:r>
              <a:t>System Architecture &amp;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74320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Segoe UI"/>
              </a:defRPr>
            </a:pPr>
            <a:r>
              <a:t>MERN Stack Architecture with AI Integration &amp; Real-Time Communication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11247120" cy="82296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54864" cy="82296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190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5D4"/>
                </a:solidFill>
                <a:latin typeface="Segoe UI"/>
              </a:defRPr>
            </a:pPr>
            <a:r>
              <a:t>FRONTEND (React 18 + Vite)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299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Pages: Landing, Auth, Dashboard, Incidents, Alerts, Map, Users, Admin, Profile, Analytics, 404  |  Components: Layout, Charts, Maps, UI  |  State: AuthContext, SocketContext, React Router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6040"/>
            <a:ext cx="11247120" cy="82296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06040"/>
            <a:ext cx="54864" cy="8229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791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Segoe UI"/>
              </a:defRPr>
            </a:pPr>
            <a:r>
              <a:t>API GATEWAY (Express.js)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9008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RESTful Endpoints  |  Auth: JWT + Google OAuth  |  Rate Limiting  |  CORS (ports 5173 &amp; 5174)  |  Helmet Security  |  Express Validators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66160"/>
            <a:ext cx="11247120" cy="82296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566160"/>
            <a:ext cx="54864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6393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Segoe UI"/>
              </a:defRPr>
            </a:pPr>
            <a:r>
              <a:t>BACKEND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502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Controllers: Auth, Incident, Alert, AI, Dashboard, User, Weather, Geocode  |  Socket.IO Events  |  Middleware: Auth check, Error handler, Validation  |  Seed Service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26280"/>
            <a:ext cx="11247120" cy="82296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526280"/>
            <a:ext cx="54864" cy="8229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5994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Segoe UI"/>
              </a:defRPr>
            </a:pPr>
            <a:r>
              <a:t>DATA &amp; AI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9103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MongoDB Atlas (Incidents, Users, Alerts collections)  |  Google Gemini 2.5 Flash Lite (predictions, summaries)  |  OpenWeather API  |  OpenStreetMap / Nominatim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77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5D4"/>
                </a:solidFill>
                <a:latin typeface="Segoe UI"/>
              </a:defRPr>
            </a:pPr>
            <a:r>
              <a:t>Data Flow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943600"/>
            <a:ext cx="274320" cy="27432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943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A0A1A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943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Auth via JWT or Google OAuth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5943600"/>
            <a:ext cx="274320" cy="27432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5943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A0A1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5943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Citizen reports incident (form/map)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0" y="5943600"/>
            <a:ext cx="274320" cy="27432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0" y="5943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A0A1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5943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Real-time Socket.IO push to admin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5943600"/>
            <a:ext cx="274320" cy="27432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5943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A0A1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5943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Admin reviews, AI analyzes, alert created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0" y="5943600"/>
            <a:ext cx="274320" cy="27432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0" y="5943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A0A1A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5943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Citizen receives notification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5D4"/>
                </a:solidFill>
                <a:latin typeface="Segoe UI"/>
              </a:defRPr>
            </a:pPr>
            <a:r>
              <a:t>Demo Screenshots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74320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AF"/>
                </a:solidFill>
                <a:latin typeface="Segoe UI"/>
              </a:defRPr>
            </a:pPr>
            <a:r>
              <a:t>Application Screenshots &amp; Live Demo Walkthrough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474720" cy="21031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474720" cy="36576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3108960" cy="1280160"/>
          </a:xfrm>
          <a:prstGeom prst="rect">
            <a:avLst/>
          </a:prstGeom>
          <a:solidFill>
            <a:srgbClr val="1E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B5563"/>
                </a:solidFill>
                <a:latin typeface="Segoe UI"/>
              </a:defRPr>
            </a:pPr>
            <a:r>
              <a:t>[ Paste Screenshot Here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Admin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Real-time stats, weather, AI predictions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554480"/>
            <a:ext cx="3474720" cy="21031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554480"/>
            <a:ext cx="3474720" cy="36576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1783080"/>
            <a:ext cx="3108960" cy="1280160"/>
          </a:xfrm>
          <a:prstGeom prst="rect">
            <a:avLst/>
          </a:prstGeom>
          <a:solidFill>
            <a:srgbClr val="1E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B5563"/>
                </a:solidFill>
                <a:latin typeface="Segoe UI"/>
              </a:defRPr>
            </a:pPr>
            <a:r>
              <a:t>[ Paste Screenshot Here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154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Interactive 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3832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Auto-location, click-to-report incident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554480"/>
            <a:ext cx="3474720" cy="21031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554480"/>
            <a:ext cx="3474720" cy="36576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1040" y="1783080"/>
            <a:ext cx="3108960" cy="1280160"/>
          </a:xfrm>
          <a:prstGeom prst="rect">
            <a:avLst/>
          </a:prstGeom>
          <a:solidFill>
            <a:srgbClr val="1E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B5563"/>
                </a:solidFill>
                <a:latin typeface="Segoe UI"/>
              </a:defRPr>
            </a:pPr>
            <a:r>
              <a:t>[ Paste Screenshot Here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154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Incident Creation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3832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Mini map with address search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114800"/>
            <a:ext cx="3474720" cy="21031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114800"/>
            <a:ext cx="3474720" cy="36576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343400"/>
            <a:ext cx="3108960" cy="1280160"/>
          </a:xfrm>
          <a:prstGeom prst="rect">
            <a:avLst/>
          </a:prstGeom>
          <a:solidFill>
            <a:srgbClr val="1E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B5563"/>
                </a:solidFill>
                <a:latin typeface="Segoe UI"/>
              </a:defRPr>
            </a:pPr>
            <a:r>
              <a:t>[ Paste Screenshot Here 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715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Incident Detail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9436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Full info with AI summary button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4114800"/>
            <a:ext cx="3474720" cy="21031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80" y="4114800"/>
            <a:ext cx="3474720" cy="36576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80560" y="4343400"/>
            <a:ext cx="3108960" cy="1280160"/>
          </a:xfrm>
          <a:prstGeom prst="rect">
            <a:avLst/>
          </a:prstGeom>
          <a:solidFill>
            <a:srgbClr val="1E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B5563"/>
                </a:solidFill>
                <a:latin typeface="Segoe UI"/>
              </a:defRPr>
            </a:pPr>
            <a:r>
              <a:t>[ Paste Screenshot Here 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5715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Alert Management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59436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Severity-based alert creation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4114800"/>
            <a:ext cx="3474720" cy="21031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38160" y="4114800"/>
            <a:ext cx="3474720" cy="36576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21040" y="4343400"/>
            <a:ext cx="3108960" cy="1280160"/>
          </a:xfrm>
          <a:prstGeom prst="rect">
            <a:avLst/>
          </a:prstGeom>
          <a:solidFill>
            <a:srgbClr val="1E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4754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B5563"/>
                </a:solidFill>
                <a:latin typeface="Segoe UI"/>
              </a:defRPr>
            </a:pPr>
            <a:r>
              <a:t>[ Paste Screenshot Here 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715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Analytics Page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59436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Recharts trend &amp; distribution charts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0" y="5669280"/>
            <a:ext cx="7589520" cy="45720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286000" y="5669280"/>
            <a:ext cx="758952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86000" y="571500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Segoe UI"/>
              </a:defRPr>
            </a:pPr>
            <a:r>
              <a:t>Live Demo: http://localhost:5174  |  Admin Login: admin@urbanshield.ai / Admin@123  |  Citizen: Register new account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5D4"/>
                </a:solidFill>
                <a:latin typeface="Segoe UI"/>
              </a:defRPr>
            </a:pPr>
            <a:r>
              <a:t>Challenges Faced During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74320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Segoe UI"/>
              </a:defRPr>
            </a:pPr>
            <a:r>
              <a:t>Real challenges encountered and how we resolved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394960" cy="155448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6576" cy="155448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  Officer Role Complexity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4937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Started with 3 roles (Admin/Officer/Citizen) but Officer added unnecessary complexity. Resolved by removing the Officer role entirely - kept only Admin and Citizen. Simplified all authorization logic, routes, and frontend navigation.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5394960" cy="155448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36576" cy="1554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  Gemini API Quota Limits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65960"/>
            <a:ext cx="4937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Free tier Gemini 2.5 Flash has only 20 requests/day. We hit this quickly during testing. Switched to Gemini 2.5 Flash Lite which has 1500 requests/day. Also improved error messages to show 'quota exceeded' instead of generic errors.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46120"/>
            <a:ext cx="5394960" cy="155448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246120"/>
            <a:ext cx="36576" cy="15544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3375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  Dashboard 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657600"/>
            <a:ext cx="4937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Admin dashboard ran 10+ separate MongoDB queries in parallel (multiple countDocuments, aggregations, populated finds). Combined incident stats into a single $facet aggregation that scans the collection once. Added .select() to limit returned fields.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246120"/>
            <a:ext cx="5394960" cy="155448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246120"/>
            <a:ext cx="36576" cy="15544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3375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  2dsphere Index Bug on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657600"/>
            <a:ext cx="4937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Alert model had a 2dsphere index on location field but alerts don't need geospatial queries. Created a pre-save hook to remove empty location objects. Added startup code in db.js to drop the old 2dsphere index automatically.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37760"/>
            <a:ext cx="5394960" cy="155448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937760"/>
            <a:ext cx="36576" cy="1554480"/>
          </a:xfrm>
          <a:prstGeom prst="rect">
            <a:avLst/>
          </a:prstGeom>
          <a:solidFill>
            <a:srgbClr val="F0D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0292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  Real-Time Connection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349240"/>
            <a:ext cx="4937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Socket.IO connections were leaking across page navigation because useEffect cleanup wasn't properly removing event listeners. Fixed by returning cleanup functions that call socket.off() for each registered event handler.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937760"/>
            <a:ext cx="5394960" cy="155448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4937760"/>
            <a:ext cx="36576" cy="1554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50292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  CORS Configuration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349240"/>
            <a:ext cx="4937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Frontend ran on both port 5173 (original) and 5174 (after restart). Backend CORS only allowed one port. Fixed by providing an array of origins: [`http://localhost:5173`, `http://localhost:5174`].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5D4"/>
                </a:solidFill>
                <a:latin typeface="Segoe UI"/>
              </a:defRPr>
            </a:pPr>
            <a:r>
              <a:t>Lessons Learned From This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74320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394960" cy="14173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6576" cy="141732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1. Simplicity Beats Complexity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Starting with 3 roles seemed right but the Officer role duplicated Admin capabilities. Removing it mid-project was painful but necessary. Lesson: start with minimal roles and add only when truly needed.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5394960" cy="14173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36576" cy="14173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2. API Quotas Are Invisible Until You Hit Them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5087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Gemini 2.5 Flash's 20 req/day free quota seemed sufficient until active testing. We hit it within minutes. Always check free tier limits before building features around an API. Have a fallback model ready.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5394960" cy="14173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97480"/>
            <a:ext cx="36576" cy="1417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788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3. One Database Query Is Better Than Ten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1089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The dashboard ran 10+ queries for a single page load. MongoDB's $facet pipeline combines multiple aggregations into a single collection scan. This cut load time significantly. Always profile slow pages.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697480"/>
            <a:ext cx="5394960" cy="14173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697480"/>
            <a:ext cx="36576" cy="14173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788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4. Real-Time Requires Explicit Cleanup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1089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Socket.IO listeners persisted across route changes, causing duplicate event handling and memory leaks. React useEffect must return cleanup functions. Every socket.on() needs a matching socket.off().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97680"/>
            <a:ext cx="5394960" cy="14173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297680"/>
            <a:ext cx="36576" cy="1417320"/>
          </a:xfrm>
          <a:prstGeom prst="rect">
            <a:avLst/>
          </a:prstGeom>
          <a:solidFill>
            <a:srgbClr val="F0D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3891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5. Error Messages Should Be User-Friendly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7091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Generic 'AI summary unavailable' gave users no actionable information. Changed backend to return specific messages like 'AI quota exceeded. Try again later.' Always pass meaningful error messages to the frontend.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297680"/>
            <a:ext cx="5394960" cy="14173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297680"/>
            <a:ext cx="36576" cy="14173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3891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6. Frontend-Backend Contracts Save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7091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Using a consistent API response format { success, data, message } from day one prevented countless debugging sessions. Consistent error handling middleware caught and formatted all errors uniformly.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897880"/>
            <a:ext cx="5394960" cy="141732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897880"/>
            <a:ext cx="36576" cy="14173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989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7. Dev Tools Accelerate Development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3093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Agentation (inline code annotations), Nodemon (auto-restart), and Vite (instant HMR) dramatically improved the development loop. Investing in tooling setup upfront pays dividends throughout the project.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5D4"/>
                </a:solidFill>
                <a:latin typeface="Segoe UI"/>
              </a:defRPr>
            </a:pPr>
            <a:r>
              <a:t>Future Scope &amp; Project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74320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F5D4"/>
                </a:solidFill>
                <a:latin typeface="Segoe UI"/>
              </a:defRPr>
            </a:pPr>
            <a:r>
              <a:t>Future Improvements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CA3AF"/>
                </a:solidFill>
                <a:latin typeface="Segoe UI"/>
              </a:defRPr>
            </a:pPr>
            <a:r>
              <a:t>  •  React Native mobile app for on-the-go incident reporting</a:t>
            </a:r>
          </a:p>
          <a:p>
            <a:pPr>
              <a:spcAft>
                <a:spcPts val="400"/>
              </a:spcAft>
              <a:defRPr sz="1200">
                <a:solidFill>
                  <a:srgbClr val="9CA3AF"/>
                </a:solidFill>
                <a:latin typeface="Segoe UI"/>
              </a:defRPr>
            </a:pPr>
            <a:r>
              <a:t>  •  Push notifications via Firebase Cloud Messaging</a:t>
            </a:r>
          </a:p>
          <a:p>
            <a:pPr>
              <a:spcAft>
                <a:spcPts val="400"/>
              </a:spcAft>
              <a:defRPr sz="1200">
                <a:solidFill>
                  <a:srgbClr val="9CA3AF"/>
                </a:solidFill>
                <a:latin typeface="Segoe UI"/>
              </a:defRPr>
            </a:pPr>
            <a:r>
              <a:t>  •  Real-time emergency vehicle GPS tracking on map</a:t>
            </a:r>
          </a:p>
          <a:p>
            <a:pPr>
              <a:spcAft>
                <a:spcPts val="400"/>
              </a:spcAft>
              <a:defRPr sz="1200">
                <a:solidFill>
                  <a:srgbClr val="9CA3AF"/>
                </a:solidFill>
                <a:latin typeface="Segoe UI"/>
              </a:defRPr>
            </a:pPr>
            <a:r>
              <a:t>  •  Multi-language support for diverse communities</a:t>
            </a:r>
          </a:p>
          <a:p>
            <a:pPr>
              <a:spcAft>
                <a:spcPts val="400"/>
              </a:spcAft>
              <a:defRPr sz="1200">
                <a:solidFill>
                  <a:srgbClr val="9CA3AF"/>
                </a:solidFill>
                <a:latin typeface="Segoe UI"/>
              </a:defRPr>
            </a:pPr>
            <a:r>
              <a:t>  •  Offline-first capability with service workers &amp; caching</a:t>
            </a:r>
          </a:p>
          <a:p>
            <a:pPr>
              <a:spcAft>
                <a:spcPts val="400"/>
              </a:spcAft>
              <a:defRPr sz="1200">
                <a:solidFill>
                  <a:srgbClr val="9CA3AF"/>
                </a:solidFill>
                <a:latin typeface="Segoe UI"/>
              </a:defRPr>
            </a:pPr>
            <a:r>
              <a:t>  •  CCTV feed &amp; IoT sensor data integration</a:t>
            </a:r>
          </a:p>
          <a:p>
            <a:pPr>
              <a:spcAft>
                <a:spcPts val="400"/>
              </a:spcAft>
              <a:defRPr sz="1200">
                <a:solidFill>
                  <a:srgbClr val="9CA3AF"/>
                </a:solidFill>
                <a:latin typeface="Segoe UI"/>
              </a:defRPr>
            </a:pPr>
            <a:r>
              <a:t>  •  AI image recognition for automatic incident classification</a:t>
            </a:r>
          </a:p>
          <a:p>
            <a:pPr>
              <a:spcAft>
                <a:spcPts val="400"/>
              </a:spcAft>
              <a:defRPr sz="1200">
                <a:solidFill>
                  <a:srgbClr val="9CA3AF"/>
                </a:solidFill>
                <a:latin typeface="Segoe UI"/>
              </a:defRPr>
            </a:pPr>
            <a:r>
              <a:t>  •  Blockchain-based incident record verification &amp; audit trail</a:t>
            </a:r>
          </a:p>
          <a:p>
            <a:pPr>
              <a:spcAft>
                <a:spcPts val="400"/>
              </a:spcAft>
              <a:defRPr sz="1200">
                <a:solidFill>
                  <a:srgbClr val="9CA3AF"/>
                </a:solidFill>
                <a:latin typeface="Segoe UI"/>
              </a:defRPr>
            </a:pPr>
            <a:r>
              <a:t>  •  Emergency resource inventory management module</a:t>
            </a:r>
          </a:p>
          <a:p>
            <a:pPr>
              <a:spcAft>
                <a:spcPts val="400"/>
              </a:spcAft>
              <a:defRPr sz="1200">
                <a:solidFill>
                  <a:srgbClr val="9CA3AF"/>
                </a:solidFill>
                <a:latin typeface="Segoe UI"/>
              </a:defRPr>
            </a:pPr>
            <a:r>
              <a:t>  •  Automated SOS detection with emergency contact notification</a:t>
            </a:r>
          </a:p>
          <a:p>
            <a:pPr>
              <a:spcAft>
                <a:spcPts val="400"/>
              </a:spcAft>
              <a:defRPr sz="1200">
                <a:solidFill>
                  <a:srgbClr val="9CA3AF"/>
                </a:solidFill>
                <a:latin typeface="Segoe UI"/>
              </a:defRPr>
            </a:pPr>
            <a:r>
              <a:t>  •  Heat maps for high-risk zone identification</a:t>
            </a:r>
          </a:p>
          <a:p>
            <a:pPr>
              <a:spcAft>
                <a:spcPts val="400"/>
              </a:spcAft>
              <a:defRPr sz="1200">
                <a:solidFill>
                  <a:srgbClr val="9CA3AF"/>
                </a:solidFill>
                <a:latin typeface="Segoe UI"/>
              </a:defRPr>
            </a:pPr>
            <a:r>
              <a:t>  •  Redis caching layer for dashboard performance</a:t>
            </a:r>
          </a:p>
          <a:p>
            <a:pPr>
              <a:spcAft>
                <a:spcPts val="400"/>
              </a:spcAft>
              <a:defRPr sz="1200">
                <a:solidFill>
                  <a:srgbClr val="9CA3AF"/>
                </a:solidFill>
                <a:latin typeface="Segoe UI"/>
              </a:defRPr>
            </a:pPr>
            <a:r>
              <a:t>  •  Unit &amp; integration test coverage (Jest, React Testing Library)</a:t>
            </a:r>
          </a:p>
          <a:p>
            <a:pPr>
              <a:spcAft>
                <a:spcPts val="400"/>
              </a:spcAft>
              <a:defRPr sz="1200">
                <a:solidFill>
                  <a:srgbClr val="9CA3AF"/>
                </a:solidFill>
                <a:latin typeface="Segoe UI"/>
              </a:defRPr>
            </a:pPr>
            <a:r>
              <a:t>  •  CI/CD pipeline with GitHub Actions automated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855F7"/>
                </a:solidFill>
                <a:latin typeface="Segoe UI"/>
              </a:defRPr>
            </a:pPr>
            <a:r>
              <a:t>Project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9CA3AF"/>
                </a:solidFill>
                <a:latin typeface="Segoe UI"/>
              </a:defRPr>
            </a:pPr>
            <a:r>
              <a:t>  •  Bridges communication gap between citizens &amp; authorities</a:t>
            </a:r>
          </a:p>
          <a:p>
            <a:pPr>
              <a:spcAft>
                <a:spcPts val="500"/>
              </a:spcAft>
              <a:defRPr sz="1300">
                <a:solidFill>
                  <a:srgbClr val="9CA3AF"/>
                </a:solidFill>
                <a:latin typeface="Segoe UI"/>
              </a:defRPr>
            </a:pPr>
            <a:r>
              <a:t>  •  Reduces emergency response time through real-time tracking</a:t>
            </a:r>
          </a:p>
          <a:p>
            <a:pPr>
              <a:spcAft>
                <a:spcPts val="500"/>
              </a:spcAft>
              <a:defRPr sz="1300">
                <a:solidFill>
                  <a:srgbClr val="9CA3AF"/>
                </a:solidFill>
                <a:latin typeface="Segoe UI"/>
              </a:defRPr>
            </a:pPr>
            <a:r>
              <a:t>  •  Empowers citizens to actively participate in community safety</a:t>
            </a:r>
          </a:p>
          <a:p>
            <a:pPr>
              <a:spcAft>
                <a:spcPts val="500"/>
              </a:spcAft>
              <a:defRPr sz="1300">
                <a:solidFill>
                  <a:srgbClr val="9CA3AF"/>
                </a:solidFill>
                <a:latin typeface="Segoe UI"/>
              </a:defRPr>
            </a:pPr>
            <a:r>
              <a:t>  •  AI-driven insights enable proactive emergency preparedness</a:t>
            </a:r>
          </a:p>
          <a:p>
            <a:pPr>
              <a:spcAft>
                <a:spcPts val="500"/>
              </a:spcAft>
              <a:defRPr sz="1300">
                <a:solidFill>
                  <a:srgbClr val="9CA3AF"/>
                </a:solidFill>
                <a:latin typeface="Segoe UI"/>
              </a:defRPr>
            </a:pPr>
            <a:r>
              <a:t>  •  Centralized platform eliminates data silos in emergencies</a:t>
            </a:r>
          </a:p>
          <a:p>
            <a:pPr>
              <a:spcAft>
                <a:spcPts val="500"/>
              </a:spcAft>
              <a:defRPr sz="1300">
                <a:solidFill>
                  <a:srgbClr val="9CA3AF"/>
                </a:solidFill>
                <a:latin typeface="Segoe UI"/>
              </a:defRPr>
            </a:pPr>
            <a:r>
              <a:t>  •  Scalable architecture ready for city-wide deployment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3931920"/>
            <a:ext cx="960120" cy="137160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3931920"/>
            <a:ext cx="96012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406908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5D4"/>
                </a:solidFill>
                <a:latin typeface="Segoe UI"/>
              </a:defRPr>
            </a:pPr>
            <a:r>
              <a:t>3-&gt;2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434840"/>
            <a:ext cx="868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Segoe UI"/>
              </a:defRPr>
            </a:pPr>
            <a:r>
              <a:t>Roles</a:t>
            </a:r>
            <a:br/>
            <a:r>
              <a:t>(Removed Officer)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3931920"/>
            <a:ext cx="960120" cy="137160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3931920"/>
            <a:ext cx="96012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80" y="406908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5D4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4434840"/>
            <a:ext cx="868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Segoe UI"/>
              </a:defRPr>
            </a:pPr>
            <a:r>
              <a:t>Gemini Models</a:t>
            </a:r>
            <a:br/>
            <a:r>
              <a:t>Tested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3931920"/>
            <a:ext cx="960120" cy="137160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40" y="3931920"/>
            <a:ext cx="96012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406908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5D4"/>
                </a:solidFill>
                <a:latin typeface="Segoe UI"/>
              </a:defRPr>
            </a:pPr>
            <a:r>
              <a:t>10+-&gt;7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4434840"/>
            <a:ext cx="868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Segoe UI"/>
              </a:defRPr>
            </a:pPr>
            <a:r>
              <a:t>Queries</a:t>
            </a:r>
            <a:br/>
            <a:r>
              <a:t>Optimized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0" y="3931920"/>
            <a:ext cx="960120" cy="137160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75520" y="3931920"/>
            <a:ext cx="96012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21240" y="406908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5D4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4434840"/>
            <a:ext cx="868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Segoe UI"/>
              </a:defRPr>
            </a:pPr>
            <a:r>
              <a:t>Frontend</a:t>
            </a:r>
            <a:br/>
            <a:r>
              <a:t>Pages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0" y="3931920"/>
            <a:ext cx="960120" cy="137160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72800" y="3931920"/>
            <a:ext cx="960120" cy="27432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18520" y="406908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5D4"/>
                </a:solidFill>
                <a:latin typeface="Segoe UI"/>
              </a:defRPr>
            </a:pPr>
            <a:r>
              <a:t>30+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4434840"/>
            <a:ext cx="868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Segoe UI"/>
              </a:defRPr>
            </a:pPr>
            <a:r>
              <a:t>API</a:t>
            </a:r>
            <a:br/>
            <a:r>
              <a:t>Endpoints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4864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UrbanShield AI demonstrates how modern web technologies, artificial intelligence, and real-time communication can converge to create meaningful impact in urban emergency management. The platform is production-ready, fully functional, and shows how technology can make cities safer, responses faster, and communities more resilient.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37160" cy="18288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70080" y="2560320"/>
            <a:ext cx="137160" cy="1828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F5D4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2834640"/>
            <a:ext cx="2103120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2004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CA3AF"/>
                </a:solidFill>
                <a:latin typeface="Segoe UI"/>
              </a:defRPr>
            </a:pPr>
            <a:r>
              <a:t>"Technology is best when it brings people together. UrbanShield AI brings citizens and authorities together to build safer, smarter cities."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3931920"/>
            <a:ext cx="5760720" cy="2286000"/>
          </a:xfrm>
          <a:prstGeom prst="rect">
            <a:avLst/>
          </a:prstGeom>
          <a:solidFill>
            <a:srgbClr val="12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3931920"/>
            <a:ext cx="5760720" cy="36576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40690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Project: UrbanShield AI - Smart City Emergency Response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3616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Stack: MERN (MongoDB, Express, React, Node.js) + Gemini AI + Socket.IO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65429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Frontend: React 18 / Vite / Tailwind CSS / Framer Motion / Leaflet / Recharts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94690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Backend: Node.js / Express / JWT / Socket.IO / Google Generative AI SDK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2395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Database: MongoDB Atlas with Mongoose ODM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5532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Authentication: JWT + Google OAuth 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8247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Live Demo: http://localhost:5174 | Admin: admin@urbanshield.ai / Admin@123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